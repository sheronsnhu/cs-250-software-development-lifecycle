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8" y="10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3" d="100"/>
          <a:sy n="73" d="100"/>
        </p:scale>
        <p:origin x="1932" y="3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3B0441-4CFD-084D-C624-4CC26D90B7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6F831E-465F-443C-900B-916EC8ED95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1A03A7-42E0-42EF-961B-47A137839E50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A3A5D2-81F2-BAA5-C55F-6D69F72A401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1140FD-5D4A-CD60-7B16-35B07D3B72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67A63-3168-4942-8978-FF269AD54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64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7F627-3738-456E-9457-0BBCF4AA9D3A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1210F0-49CD-4A84-9D79-684A5740C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492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42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78100"/>
            <a:ext cx="8229600" cy="35480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6100" y="93345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100" y="2197100"/>
            <a:ext cx="8229600" cy="4037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7B77F9-13FC-6DFA-3E4C-B13E5A4B5A1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46100" y="0"/>
            <a:ext cx="1956986" cy="8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br.org/2023/10/its-time-to-end-the-battle-between-waterfall-and-agile" TargetMode="External"/><Relationship Id="rId2" Type="http://schemas.openxmlformats.org/officeDocument/2006/relationships/hyperlink" Target="https://www.scrum.org/resources/blog/evidence-based-management-guide-2024-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scrum.org/resources/online-evidence-based-" TargetMode="External"/><Relationship Id="rId4" Type="http://schemas.openxmlformats.org/officeDocument/2006/relationships/hyperlink" Target="https://www.pmi.org/learning/thought-leadership/future-of-project-wor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CAE91-EDD2-BF64-9DD0-91835C1B0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10445750" cy="1470025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chemeClr val="tx2">
                    <a:lumMod val="50000"/>
                  </a:schemeClr>
                </a:solidFill>
              </a:rPr>
              <a:t>ChadaTech</a:t>
            </a:r>
            <a:br>
              <a:rPr lang="en-US" sz="4000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sz="4000" dirty="0">
                <a:solidFill>
                  <a:schemeClr val="tx2">
                    <a:lumMod val="50000"/>
                  </a:schemeClr>
                </a:solidFill>
              </a:rPr>
              <a:t>Agile Leadership Briefing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CFFDF-E8E5-907A-9E63-2BDE1ADBB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9010650" cy="17526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CS250 Final Project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Sheron Morris</a:t>
            </a:r>
          </a:p>
          <a:p>
            <a:r>
              <a:rPr lang="en-US" sz="2400">
                <a:solidFill>
                  <a:schemeClr val="tx2">
                    <a:lumMod val="50000"/>
                  </a:schemeClr>
                </a:solidFill>
              </a:rPr>
              <a:t>October 17, 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2026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B8CDB0C-295B-748D-1D39-126053109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37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4963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B344D"/>
                </a:solidFill>
              </a:defRPr>
            </a:pPr>
            <a:r>
              <a:rPr dirty="0" err="1"/>
              <a:t>ChadaTech</a:t>
            </a:r>
            <a:r>
              <a:rPr dirty="0"/>
              <a:t> | Agile Leadership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157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455463"/>
                </a:solidFill>
              </a:defRPr>
            </a:pPr>
            <a:r>
              <a:rPr dirty="0"/>
              <a:t>• 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CS-250 Final Project • SNHU Travel application</a:t>
            </a:r>
          </a:p>
          <a:p>
            <a:pPr>
              <a:spcAft>
                <a:spcPts val="2000"/>
              </a:spcAft>
              <a:defRPr sz="2100">
                <a:solidFill>
                  <a:srgbClr val="455463"/>
                </a:solidFill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• Decision: How should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ChadaTech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select and apply Agile or Waterfall development?</a:t>
            </a:r>
          </a:p>
          <a:p>
            <a:pPr>
              <a:spcAft>
                <a:spcPts val="2000"/>
              </a:spcAft>
              <a:defRPr sz="2100">
                <a:solidFill>
                  <a:srgbClr val="455463"/>
                </a:solidFill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• Prepared from an individual course project simulating Scrum responsibilities.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412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B344D"/>
                </a:solidFill>
              </a:defRPr>
            </a:pPr>
            <a:r>
              <a:rPr dirty="0"/>
              <a:t>Why Scrum for SNHU Travel?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Incremental delivery made travel destination features easier to build and validate.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Testing revealed that different destination selections initially displayed the same result.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Correcting the selection logic before final packaging reduced the chance of shipping an incorrect feature.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The course project simulated Scrum; it did not involve a real cross-functional Scrum team.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72784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7E89"/>
                </a:solidFill>
              </a:defRPr>
            </a:pPr>
            <a:r>
              <a:t>(Scrum.org, 2024; Kong &amp; Bittner, 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4545" y="80010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B344D"/>
                </a:solidFill>
              </a:defRPr>
            </a:pPr>
            <a:r>
              <a:rPr dirty="0"/>
              <a:t>Scrum Team: Three Accountabilities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dirty="0"/>
              <a:t>Product Owner: maximizes product value; prioritizes destination-viewing user stories and clarifies acceptance criteria.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dirty="0"/>
              <a:t>Scrum Master: enables Scrum effectiveness; helps surface impediments and improve the team’s process.</a:t>
            </a:r>
          </a:p>
          <a:p>
            <a:pPr marL="285750" indent="-285750">
              <a:spcAft>
                <a:spcPts val="2000"/>
              </a:spcAft>
              <a:buFont typeface="Arial" panose="020B0604020202020204" pitchFamily="34" charset="0"/>
              <a:buChar char="•"/>
              <a:defRPr sz="1800">
                <a:solidFill>
                  <a:srgbClr val="455463"/>
                </a:solidFill>
              </a:defRPr>
            </a:pPr>
            <a:r>
              <a:rPr sz="2100" dirty="0"/>
              <a:t>Developers: plan, implement, integrate, and test a usable increment; for this project, Java GUI and destination selection functionality.</a:t>
            </a:r>
            <a:endParaRPr lang="en-US" sz="2100" dirty="0"/>
          </a:p>
          <a:p>
            <a:pPr marL="285750" indent="-285750">
              <a:spcAft>
                <a:spcPts val="2000"/>
              </a:spcAft>
              <a:buFont typeface="Arial" panose="020B0604020202020204" pitchFamily="34" charset="0"/>
              <a:buChar char="•"/>
              <a:defRPr sz="1800">
                <a:solidFill>
                  <a:srgbClr val="455463"/>
                </a:solidFill>
              </a:defRPr>
            </a:pPr>
            <a:r>
              <a:rPr sz="2100" dirty="0"/>
              <a:t>These are complementary accountabilities—not a traditional command-and-control hierarchy.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72784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7E89"/>
                </a:solidFill>
              </a:defRPr>
            </a:pPr>
            <a:r>
              <a:t>(Kong &amp; Bittner, 2024; Scrum.org, 2024)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41248"/>
            <a:ext cx="6397264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B344D"/>
                </a:solidFill>
              </a:defRPr>
            </a:pPr>
            <a:r>
              <a:rPr dirty="0"/>
              <a:t>Agile SDLC: </a:t>
            </a:r>
            <a:r>
              <a:rPr lang="en-US" dirty="0"/>
              <a:t>Phased Revisited Each Sprint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380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2">
                    <a:lumMod val="50000"/>
                  </a:schemeClr>
                </a:solidFill>
              </a:rPr>
              <a:t>Requirements: refine travel-destination user stories and acceptance criteria.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2">
                    <a:lumMod val="50000"/>
                  </a:schemeClr>
                </a:solidFill>
              </a:rPr>
              <a:t>Design: plan GUI behavior, destination mapping, and image resources.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2">
                    <a:lumMod val="50000"/>
                  </a:schemeClr>
                </a:solidFill>
              </a:rPr>
              <a:t>Development: implement and integrate Java classes and image files.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2">
                    <a:lumMod val="50000"/>
                  </a:schemeClr>
                </a:solidFill>
              </a:rPr>
              <a:t>Testing: run each destination choice; correct mismatched output.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2">
                    <a:lumMod val="50000"/>
                  </a:schemeClr>
                </a:solidFill>
              </a:rPr>
              <a:t>Deployment and maintenance: package the runnable JAR, gather feedback, and prioritize improvements.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2">
                    <a:lumMod val="50000"/>
                  </a:schemeClr>
                </a:solidFill>
              </a:rPr>
              <a:t>Unlike one-pass stages, these activities repeat as working increments evolve.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77240" y="6272784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7E89"/>
                </a:solidFill>
              </a:defRPr>
            </a:pPr>
            <a:r>
              <a:t>(Scrum.org, 2024; Kong &amp; Bittner, 2024)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5902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B344D"/>
                </a:solidFill>
              </a:defRPr>
            </a:pPr>
            <a:r>
              <a:rPr dirty="0"/>
              <a:t>Scrum Events and Working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3380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dirty="0"/>
              <a:t>Sprint Planning: agree on Sprint Goal and a feasible set of backlog items.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dirty="0"/>
              <a:t>Daily Scrum: Developers inspect progress and adapt their plan; surface destination-image or logic blockers.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dirty="0"/>
              <a:t>Sprint Review: inspect the working increment with stakeholders and adapt the product backlog.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dirty="0"/>
              <a:t>Retrospective: improve code organization, earlier testing, and communication.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dirty="0"/>
              <a:t>Artifacts: product backlog, sprint backlog, and increment, each with a commitment.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72784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7E89"/>
                </a:solidFill>
              </a:defRPr>
            </a:pPr>
            <a:r>
              <a:t>(Scrum.org, 2024)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841248"/>
            <a:ext cx="9499204" cy="10310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B344D"/>
                </a:solidFill>
              </a:defRPr>
            </a:pPr>
            <a:r>
              <a:rPr lang="en-US" sz="3200" dirty="0">
                <a:latin typeface="Aptos"/>
              </a:rPr>
              <a:t>Waterfall | What Would Change for SNHU Travel?</a:t>
            </a:r>
          </a:p>
          <a:p>
            <a:pPr>
              <a:defRPr sz="2900" b="1">
                <a:solidFill>
                  <a:srgbClr val="1B344D"/>
                </a:solidFill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2">
                    <a:lumMod val="50000"/>
                  </a:schemeClr>
                </a:solidFill>
              </a:rPr>
              <a:t>Requirements and destination mappings would be specified up front.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2">
                    <a:lumMod val="50000"/>
                  </a:schemeClr>
                </a:solidFill>
              </a:rPr>
              <a:t>Waterfall typically sequences requirements → design → implementation → testing → deployment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2">
                    <a:lumMod val="50000"/>
                  </a:schemeClr>
                </a:solidFill>
              </a:rPr>
              <a:t>Design and implementation would follow approved requirements in sequence.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2">
                    <a:lumMod val="50000"/>
                  </a:schemeClr>
                </a:solidFill>
              </a:rPr>
              <a:t>Testing would be concentrated after the build rather than after each increment.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2">
                    <a:lumMod val="50000"/>
                  </a:schemeClr>
                </a:solidFill>
              </a:rPr>
              <a:t>If multiple destination choices showed the same result, correcting the defect later could require revisiting design and testing documents.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2">
                    <a:lumMod val="50000"/>
                  </a:schemeClr>
                </a:solidFill>
              </a:rPr>
              <a:t>A predictive approach can provide clear baselines but may be less responsive to emerging user feedback.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100" dirty="0">
              <a:solidFill>
                <a:schemeClr val="tx2">
                  <a:lumMod val="50000"/>
                </a:schemeClr>
              </a:solidFill>
              <a:latin typeface="Aptos"/>
            </a:endParaRPr>
          </a:p>
          <a:p>
            <a:pPr>
              <a:spcAft>
                <a:spcPts val="2000"/>
              </a:spcAft>
              <a:defRPr sz="2100">
                <a:solidFill>
                  <a:srgbClr val="455463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77240" y="6272784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7E89"/>
                </a:solidFill>
              </a:defRPr>
            </a:pPr>
            <a:r>
              <a:t>(Nieto-Rodriguez, 2023; PMI, 2024)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0010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B344D"/>
                </a:solidFill>
              </a:defRPr>
            </a:pPr>
            <a:r>
              <a:rPr dirty="0"/>
              <a:t>Agile vs. Waterfall | Decision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5765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sz="2000" dirty="0"/>
              <a:t>Favor Agile when requirements evolve, feedback is available, and features can be released incrementally.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1800">
                <a:solidFill>
                  <a:srgbClr val="455463"/>
                </a:solidFill>
              </a:defRPr>
            </a:pPr>
            <a:r>
              <a:rPr sz="2000" dirty="0"/>
              <a:t>Favor predictive/Waterfall when requirements are stable, dependencies are tightly sequenced, and formal stage approvals dominate.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1800">
                <a:solidFill>
                  <a:srgbClr val="455463"/>
                </a:solidFill>
              </a:defRPr>
            </a:pPr>
            <a:r>
              <a:rPr sz="2000" dirty="0"/>
              <a:t>Evaluate regulatory needs, team capability, stakeholder availability, architecture, budget, and risk—not methodology labels alone.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sz="2000" dirty="0"/>
              <a:t>A hybrid approach may combine fixed governance milestones with iterative development.</a:t>
            </a:r>
            <a:endParaRPr lang="en-US" sz="2000" dirty="0"/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lang="en-US" sz="2000" dirty="0"/>
              <a:t>Ability to test increments: SNHU Travel destination choices could be checked individually.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lang="en-US" sz="2000" dirty="0"/>
              <a:t>Team readiness and governance: Scrum requires clear ownership, transparency, and disciplined priorities.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lang="en-US" sz="2000" dirty="0"/>
              <a:t>Recommend the method that fits the work, not a one-size-fits-all mandate.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endParaRPr sz="2100" dirty="0"/>
          </a:p>
        </p:txBody>
      </p:sp>
      <p:sp>
        <p:nvSpPr>
          <p:cNvPr id="4" name="TextBox 3"/>
          <p:cNvSpPr txBox="1"/>
          <p:nvPr/>
        </p:nvSpPr>
        <p:spPr>
          <a:xfrm>
            <a:off x="777240" y="6272784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7E89"/>
                </a:solidFill>
              </a:defRPr>
            </a:pPr>
            <a:r>
              <a:t>(PMI, 2024; Nieto-Rodriguez, 2023)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412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B344D"/>
                </a:solidFill>
              </a:defRPr>
            </a:pPr>
            <a:r>
              <a:t>Recommendation to ChadaTech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370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Use Scrum for customer-facing software like SNHU Travel, with a prioritized backlog and short feedback cycles.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Define acceptance criteria and test destination-to-image mapping throughout development.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Track value and quality: completed accepted stories, defects, customer feedback, and rework.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Keep lightweight documentation and formal approval gates where business or compliance risks require them.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>
                <a:solidFill>
                  <a:srgbClr val="455463"/>
                </a:solidFill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Pilot, inspect outcomes, and adapt rather than assuming one approach fits every project.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72784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7E89"/>
                </a:solidFill>
              </a:defRPr>
            </a:pPr>
            <a:r>
              <a:t>(Scrum.org, 2024; PMI, 2024)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9452" y="906780"/>
            <a:ext cx="1961178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B344D"/>
                </a:solidFill>
              </a:defRPr>
            </a:pPr>
            <a:r>
              <a:rPr dirty="0"/>
              <a:t>References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2000"/>
              </a:spcAft>
              <a:buFont typeface="Arial" panose="020B0604020202020204" pitchFamily="34" charset="0"/>
              <a:buChar char="•"/>
              <a:defRPr sz="1800">
                <a:solidFill>
                  <a:srgbClr val="455463"/>
                </a:solidFill>
              </a:defRPr>
            </a:pPr>
            <a:r>
              <a:rPr sz="2000" dirty="0"/>
              <a:t>Kong, P., &amp; Bittner, K. (2024, May 7). Evidence-Based Management Guide, 2024—What’s new? </a:t>
            </a:r>
            <a:r>
              <a:rPr lang="en-US" sz="2000" dirty="0"/>
              <a:t>	</a:t>
            </a:r>
            <a:r>
              <a:rPr sz="2000" dirty="0"/>
              <a:t>Scrum.org. </a:t>
            </a:r>
            <a:r>
              <a:rPr sz="2000" dirty="0">
                <a:hlinkClick r:id="rId2"/>
              </a:rPr>
              <a:t>https://www.scrum.org/resources/blog/evidence-based-management-guide-2024-</a:t>
            </a:r>
            <a:r>
              <a:rPr lang="en-US" sz="2000" dirty="0">
                <a:hlinkClick r:id="rId2"/>
              </a:rPr>
              <a:t>	</a:t>
            </a:r>
            <a:r>
              <a:rPr sz="2000" dirty="0" err="1">
                <a:hlinkClick r:id="rId2"/>
              </a:rPr>
              <a:t>whats</a:t>
            </a:r>
            <a:r>
              <a:rPr sz="2000" dirty="0">
                <a:hlinkClick r:id="rId2"/>
              </a:rPr>
              <a:t>-new</a:t>
            </a:r>
            <a:endParaRPr sz="2000" dirty="0"/>
          </a:p>
          <a:p>
            <a:pPr marL="285750" indent="-285750">
              <a:spcAft>
                <a:spcPts val="2000"/>
              </a:spcAft>
              <a:buFont typeface="Arial" panose="020B0604020202020204" pitchFamily="34" charset="0"/>
              <a:buChar char="•"/>
              <a:defRPr sz="1800">
                <a:solidFill>
                  <a:srgbClr val="455463"/>
                </a:solidFill>
              </a:defRPr>
            </a:pPr>
            <a:r>
              <a:rPr sz="2000" dirty="0"/>
              <a:t>Nieto-Rodriguez, A. (2023, October 10). It’s time to end the battle between Waterfall and Agile. </a:t>
            </a:r>
            <a:r>
              <a:rPr lang="en-US" sz="2000" dirty="0"/>
              <a:t>	</a:t>
            </a:r>
            <a:r>
              <a:rPr sz="2000" dirty="0"/>
              <a:t>Harvard Business Review</a:t>
            </a:r>
            <a:r>
              <a:rPr lang="en-US" sz="2000" dirty="0">
                <a:hlinkClick r:id="rId3"/>
              </a:rPr>
              <a:t>. https://hbr.org/2023/10/its-time-to-end-the-battle-between-	waterfall-and-agile</a:t>
            </a:r>
            <a:endParaRPr sz="2000" dirty="0"/>
          </a:p>
          <a:p>
            <a:pPr marL="285750" indent="-285750">
              <a:spcAft>
                <a:spcPts val="2000"/>
              </a:spcAft>
              <a:buFont typeface="Arial" panose="020B0604020202020204" pitchFamily="34" charset="0"/>
              <a:buChar char="•"/>
              <a:defRPr sz="1800">
                <a:solidFill>
                  <a:srgbClr val="455463"/>
                </a:solidFill>
              </a:defRPr>
            </a:pPr>
            <a:r>
              <a:rPr sz="2000" dirty="0"/>
              <a:t>Project Management Institute. (2024). Pulse of the Profession 2024: The future of project work. </a:t>
            </a:r>
            <a:r>
              <a:rPr lang="en-US" sz="2000" dirty="0"/>
              <a:t>	</a:t>
            </a:r>
            <a:r>
              <a:rPr sz="2000" dirty="0">
                <a:hlinkClick r:id="rId4"/>
              </a:rPr>
              <a:t>https://www.pmi.org/learning/thought-leadership/future-of-project-work</a:t>
            </a:r>
            <a:endParaRPr sz="2000" dirty="0"/>
          </a:p>
          <a:p>
            <a:pPr marL="285750" indent="-285750">
              <a:spcAft>
                <a:spcPts val="2000"/>
              </a:spcAft>
              <a:buFont typeface="Arial" panose="020B0604020202020204" pitchFamily="34" charset="0"/>
              <a:buChar char="•"/>
              <a:defRPr sz="1800">
                <a:solidFill>
                  <a:srgbClr val="455463"/>
                </a:solidFill>
              </a:defRPr>
            </a:pPr>
            <a:r>
              <a:rPr sz="2000" dirty="0"/>
              <a:t>Scrum.org. (2024). The evidence-based management guide: Improving value delivery under </a:t>
            </a:r>
            <a:r>
              <a:rPr lang="en-US" sz="2000" dirty="0"/>
              <a:t>	</a:t>
            </a:r>
            <a:r>
              <a:rPr sz="2000" dirty="0"/>
              <a:t>conditions of uncertainty. </a:t>
            </a:r>
            <a:r>
              <a:rPr sz="2000" dirty="0">
                <a:hlinkClick r:id="rId5"/>
              </a:rPr>
              <a:t>https://www.scrum.org/resources/online-evidence-based-</a:t>
            </a:r>
            <a:r>
              <a:rPr lang="en-US" sz="2000" dirty="0"/>
              <a:t>	</a:t>
            </a:r>
            <a:r>
              <a:rPr sz="2000" dirty="0"/>
              <a:t>management-guide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1520</TotalTime>
  <Words>863</Words>
  <Application>Microsoft Office PowerPoint</Application>
  <PresentationFormat>Custom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ChadaTech Agile Leadership Briefing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Sheron Morris</dc:creator>
  <cp:keywords/>
  <dc:description>generated using python-pptx</dc:description>
  <cp:lastModifiedBy>Sheron Morris</cp:lastModifiedBy>
  <cp:revision>7</cp:revision>
  <dcterms:created xsi:type="dcterms:W3CDTF">2013-01-27T09:14:16Z</dcterms:created>
  <dcterms:modified xsi:type="dcterms:W3CDTF">2026-10-18T23:36:11Z</dcterms:modified>
  <cp:category/>
</cp:coreProperties>
</file>